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TWT Chat 智能客服系统使用培训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让客户服务更高效、更智能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什么是 TWT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企业级海外客服 SaaS 平台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核心特点：</a:t>
            </a:r>
          </a:p>
          <a:p>
            <a:pPr>
              <a:spcAft>
                <a:spcPts val="800"/>
              </a:spcAft>
              <a:defRPr sz="1800"/>
            </a:pPr>
            <a:r>
              <a:t>• 多渠道统一管理</a:t>
            </a:r>
          </a:p>
          <a:p>
            <a:pPr lvl="1">
              <a:spcAft>
                <a:spcPts val="800"/>
              </a:spcAft>
              <a:defRPr sz="1600"/>
            </a:pPr>
            <a:r>
              <a:t>  Email、Webhook 等多种渠道消息集中处理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AI 驱动的智能客服</a:t>
            </a:r>
          </a:p>
          <a:p>
            <a:pPr lvl="1">
              <a:spcAft>
                <a:spcPts val="800"/>
              </a:spcAft>
              <a:defRPr sz="1600"/>
            </a:pPr>
            <a:r>
              <a:t>  基于知识库的自动回复，减少重复工作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灵活的权限体系</a:t>
            </a:r>
          </a:p>
          <a:p>
            <a:pPr lvl="1">
              <a:spcAft>
                <a:spcPts val="800"/>
              </a:spcAft>
              <a:defRPr sz="1600"/>
            </a:pPr>
            <a:r>
              <a:t>  支持自定义角色和精细化权限配置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为什么选择 TWT Chat？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提升效率 - AI 自动回复，减少 60% 重复工作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多渠道整合 - Email、Webhook 等统一管理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精准权限 - 灵活的角色与权限配置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数据驱动 - 完整的报表分析体系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功能架构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TWT Chat 五大核心模块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客服工作台 - 会话管理、档案查询、客户管理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渠道接入层 - Email、Webhook 多渠道集成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AI 智能引擎 - 自动回复、知识库驱动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数据分析中心 - 报表统计、绩效分析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• 权限管理系统 - 角色配置、坐席管理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客服工作台 - 会话管理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实时会话处理中心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实时会话处理</a:t>
            </a:r>
          </a:p>
          <a:p>
            <a:pPr lvl="1">
              <a:spcAft>
                <a:spcPts val="800"/>
              </a:spcAft>
              <a:defRPr sz="1600"/>
            </a:pPr>
            <a:r>
              <a:t>  在线会话列表、排队提醒、状态更新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会话操作</a:t>
            </a:r>
          </a:p>
          <a:p>
            <a:pPr lvl="1">
              <a:spcAft>
                <a:spcPts val="800"/>
              </a:spcAft>
              <a:defRPr sz="1600"/>
            </a:pPr>
            <a:r>
              <a:t>  快速领取、转移会话、添加协作、标记/关闭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辅助工具</a:t>
            </a:r>
          </a:p>
          <a:p>
            <a:pPr lvl="1">
              <a:spcAft>
                <a:spcPts val="800"/>
              </a:spcAft>
              <a:defRPr sz="1600"/>
            </a:pPr>
            <a:r>
              <a:t>  快捷回复、标签分类、访客信息、历史记录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客服工作台 - 档案与客户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完整的客户关系管理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档案模块</a:t>
            </a:r>
          </a:p>
          <a:p>
            <a:pPr lvl="1">
              <a:spcAft>
                <a:spcPts val="800"/>
              </a:spcAft>
              <a:defRPr sz="1600"/>
            </a:pPr>
            <a:r>
              <a:t>  会话历史归档、多维度搜索、标签分类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客户模块</a:t>
            </a:r>
          </a:p>
          <a:p>
            <a:pPr lvl="1">
              <a:spcAft>
                <a:spcPts val="800"/>
              </a:spcAft>
              <a:defRPr sz="1600"/>
            </a:pPr>
            <a:r>
              <a:t>  客户资料管理、会话历史、标签体系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访客模块</a:t>
            </a:r>
          </a:p>
          <a:p>
            <a:pPr lvl="1">
              <a:spcAft>
                <a:spcPts val="800"/>
              </a:spcAft>
              <a:defRPr sz="1600"/>
            </a:pPr>
            <a:r>
              <a:t>  在线监控、主动营销、来源追踪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AI Agent - 智能客服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知识库驱动的自动化服务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阶段一：访客首条消息</a:t>
            </a:r>
          </a:p>
          <a:p>
            <a:pPr lvl="1">
              <a:spcAft>
                <a:spcPts val="800"/>
              </a:spcAft>
              <a:defRPr sz="1600"/>
            </a:pPr>
            <a:r>
              <a:t>  受众范围、回复时机、标签显示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阶段二：AI 回复策略</a:t>
            </a:r>
          </a:p>
          <a:p>
            <a:pPr lvl="1">
              <a:spcAft>
                <a:spcPts val="800"/>
              </a:spcAft>
              <a:defRPr sz="1600"/>
            </a:pPr>
            <a:r>
              <a:t>  严格/发散模式、知识库关联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阶段三：无法解答处理</a:t>
            </a:r>
          </a:p>
          <a:p>
            <a:pPr lvl="1">
              <a:spcAft>
                <a:spcPts val="800"/>
              </a:spcAft>
              <a:defRPr sz="1600"/>
            </a:pPr>
            <a:r>
              <a:t>  兜底回复、转接人工、提示语配置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阶段四：访客跟进与自动关闭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多渠道接入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统一管理，无缝集成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Email 邮件会话系统</a:t>
            </a:r>
          </a:p>
          <a:p>
            <a:pPr lvl="1">
              <a:spcAft>
                <a:spcPts val="800"/>
              </a:spcAft>
              <a:defRPr sz="1600"/>
            </a:pPr>
            <a:r>
              <a:t>  邮件线程智能识别、支持附件和富文本</a:t>
            </a:r>
          </a:p>
          <a:p>
            <a:pPr lvl="1">
              <a:spcAft>
                <a:spcPts val="800"/>
              </a:spcAft>
              <a:defRPr sz="1600"/>
            </a:pPr>
            <a:r>
              <a:t>  换邮箱回复保持连续性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Webhook 平台集成</a:t>
            </a:r>
          </a:p>
          <a:p>
            <a:pPr lvl="1">
              <a:spcAft>
                <a:spcPts val="800"/>
              </a:spcAft>
              <a:defRPr sz="1600"/>
            </a:pPr>
            <a:r>
              <a:t>  支持：Slack、飞书、钉钉、企业微信、自定义</a:t>
            </a:r>
          </a:p>
          <a:p>
            <a:pPr lvl="1">
              <a:spcAft>
                <a:spcPts val="800"/>
              </a:spcAft>
              <a:defRPr sz="1600"/>
            </a:pPr>
            <a:r>
              <a:t>  HMAC-SHA256 签名验证、统一消息格式转换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权限与角色管理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灵活的权限体系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系统预设角色</a:t>
            </a:r>
          </a:p>
          <a:p>
            <a:pPr lvl="1">
              <a:spcAft>
                <a:spcPts val="800"/>
              </a:spcAft>
              <a:defRPr sz="1600"/>
            </a:pPr>
            <a:r>
              <a:t>  管理员 - 全部权限，不可删除</a:t>
            </a:r>
          </a:p>
          <a:p>
            <a:pPr lvl="1">
              <a:spcAft>
                <a:spcPts val="800"/>
              </a:spcAft>
              <a:defRPr sz="1600"/>
            </a:pPr>
            <a:r>
              <a:t>  客服 - 基础权限，可编辑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自定义角色：最多 99 个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三级权限树</a:t>
            </a:r>
          </a:p>
          <a:p>
            <a:pPr lvl="1">
              <a:spcAft>
                <a:spcPts val="800"/>
              </a:spcAft>
              <a:defRPr sz="1600"/>
            </a:pPr>
            <a:r>
              <a:t>  1. 菜单权限（12 个一级菜单）</a:t>
            </a:r>
          </a:p>
          <a:p>
            <a:pPr lvl="1">
              <a:spcAft>
                <a:spcPts val="800"/>
              </a:spcAft>
              <a:defRPr sz="1600"/>
            </a:pPr>
            <a:r>
              <a:t>  2. 会话操作权限</a:t>
            </a:r>
          </a:p>
          <a:p>
            <a:pPr lvl="1">
              <a:spcAft>
                <a:spcPts val="800"/>
              </a:spcAft>
              <a:defRPr sz="1600"/>
            </a:pPr>
            <a:r>
              <a:t>  3. 功能权限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营销与报表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数据驱动的服务优化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营销模块</a:t>
            </a:r>
          </a:p>
          <a:p>
            <a:pPr lvl="1">
              <a:spcAft>
                <a:spcPts val="800"/>
              </a:spcAft>
              <a:defRPr sz="1600"/>
            </a:pPr>
            <a:r>
              <a:t>  主动营销活动、在线访客触达、产品推荐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报表模块</a:t>
            </a:r>
          </a:p>
          <a:p>
            <a:pPr lvl="1">
              <a:spcAft>
                <a:spcPts val="800"/>
              </a:spcAft>
              <a:defRPr sz="1600"/>
            </a:pPr>
            <a:r>
              <a:t>  客服绩效统计、响应时间分析</a:t>
            </a:r>
          </a:p>
          <a:p>
            <a:pPr lvl="1">
              <a:spcAft>
                <a:spcPts val="800"/>
              </a:spcAft>
              <a:defRPr sz="1600"/>
            </a:pPr>
            <a:r>
              <a:t>  会话解决率、客户满意度、趋势对比分析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价值：通过数据洞察，持续优化服务流程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演示环节说明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实操演示准备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演示环境</a:t>
            </a:r>
          </a:p>
          <a:p>
            <a:pPr lvl="1">
              <a:spcAft>
                <a:spcPts val="800"/>
              </a:spcAft>
              <a:defRPr sz="1600"/>
            </a:pPr>
            <a:r>
              <a:t>  URL: https://pm.pro.jishu666.com/web-agent/</a:t>
            </a:r>
          </a:p>
          <a:p>
            <a:pPr lvl="1">
              <a:spcAft>
                <a:spcPts val="800"/>
              </a:spcAft>
              <a:defRPr sz="1600"/>
            </a:pPr>
            <a:r>
              <a:t>  账号：管理员 / 客服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演示内容</a:t>
            </a:r>
          </a:p>
          <a:p>
            <a:pPr lvl="1">
              <a:spcAft>
                <a:spcPts val="800"/>
              </a:spcAft>
              <a:defRPr sz="1600"/>
            </a:pPr>
            <a:r>
              <a:t>  1. 客服接待完整流程</a:t>
            </a:r>
          </a:p>
          <a:p>
            <a:pPr lvl="1">
              <a:spcAft>
                <a:spcPts val="800"/>
              </a:spcAft>
              <a:defRPr sz="1600"/>
            </a:pPr>
            <a:r>
              <a:t>  2. AI Agent 配置方法</a:t>
            </a:r>
          </a:p>
          <a:p>
            <a:pPr lvl="1">
              <a:spcAft>
                <a:spcPts val="800"/>
              </a:spcAft>
              <a:defRPr sz="1600"/>
            </a:pPr>
            <a:r>
              <a:t>  3. 权限管理操作</a:t>
            </a:r>
          </a:p>
          <a:p>
            <a:pPr lvl="1">
              <a:spcAft>
                <a:spcPts val="800"/>
              </a:spcAft>
              <a:defRPr sz="1600"/>
            </a:pPr>
            <a:r>
              <a:t>  4. 渠道配置步骤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演示 1 - 客服接待流程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从访客进入到会话关闭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1. 访客发起会话</a:t>
            </a:r>
          </a:p>
          <a:p>
            <a:pPr lvl="1">
              <a:spcAft>
                <a:spcPts val="800"/>
              </a:spcAft>
              <a:defRPr sz="1600"/>
            </a:pPr>
            <a:r>
              <a:t>  访客在网站发送消息，进入排队队列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2. AI 自动回复</a:t>
            </a:r>
          </a:p>
          <a:p>
            <a:pPr lvl="1">
              <a:spcAft>
                <a:spcPts val="800"/>
              </a:spcAft>
              <a:defRPr sz="1600"/>
            </a:pPr>
            <a:r>
              <a:t>  AI 识别问题类型，基于知识库给出答案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3. 客服领取会话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4. 使用快捷回复 → 5. 添加标签 → 6. 关闭会话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演示 2 - AI Agent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智能客服配置步骤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步骤 1：进入 AI Agent 设置</a:t>
            </a:r>
          </a:p>
          <a:p>
            <a:pPr lvl="1">
              <a:spcAft>
                <a:spcPts val="800"/>
              </a:spcAft>
              <a:defRPr sz="1600"/>
            </a:pPr>
            <a:r>
              <a:t>  导航：设置 → AI Agent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步骤 2：配置受众范围</a:t>
            </a:r>
          </a:p>
          <a:p>
            <a:pPr lvl="1">
              <a:spcAft>
                <a:spcPts val="800"/>
              </a:spcAft>
              <a:defRPr sz="1600"/>
            </a:pPr>
            <a:r>
              <a:t>  全部访客 / 仅访客 / 仅客户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步骤 3：设置回复时机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步骤 4-6：关联知识库、配置兜底回复、测试效果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演示 3 - 权限管理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创建角色并分配权限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1. 创建自定义角色</a:t>
            </a:r>
          </a:p>
          <a:p>
            <a:pPr lvl="1">
              <a:spcAft>
                <a:spcPts val="800"/>
              </a:spcAft>
              <a:defRPr sz="1600"/>
            </a:pPr>
            <a:r>
              <a:t>  设置 → 客服管理 → 角色管理 → 新建角色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2. 配置菜单权限</a:t>
            </a:r>
          </a:p>
          <a:p>
            <a:pPr lvl="1">
              <a:spcAft>
                <a:spcPts val="800"/>
              </a:spcAft>
              <a:defRPr sz="1600"/>
            </a:pPr>
            <a:r>
              <a:t>  勾选可访问的功能模块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3. 设置会话操作权限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4. 邀请客服成员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演示 4 - 渠道配置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Email 和 Webhook 集成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Email 渠道配置</a:t>
            </a:r>
          </a:p>
          <a:p>
            <a:pPr lvl="1">
              <a:spcAft>
                <a:spcPts val="800"/>
              </a:spcAft>
              <a:defRPr sz="1600"/>
            </a:pPr>
            <a:r>
              <a:t>  1. 设置 → 邮箱渠道</a:t>
            </a:r>
          </a:p>
          <a:p>
            <a:pPr lvl="1">
              <a:spcAft>
                <a:spcPts val="800"/>
              </a:spcAft>
              <a:defRPr sz="1600"/>
            </a:pPr>
            <a:r>
              <a:t>  2. 填写 SMTP/IMAP 服务器信息</a:t>
            </a:r>
          </a:p>
          <a:p>
            <a:pPr lvl="1">
              <a:spcAft>
                <a:spcPts val="800"/>
              </a:spcAft>
              <a:defRPr sz="1600"/>
            </a:pPr>
            <a:r>
              <a:t>  3. 测试连接并保存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Webhook 平台集成</a:t>
            </a:r>
          </a:p>
          <a:p>
            <a:pPr lvl="1">
              <a:spcAft>
                <a:spcPts val="800"/>
              </a:spcAft>
              <a:defRPr sz="1600"/>
            </a:pPr>
            <a:r>
              <a:t>  1. 设置 → Webhook</a:t>
            </a:r>
          </a:p>
          <a:p>
            <a:pPr lvl="1">
              <a:spcAft>
                <a:spcPts val="800"/>
              </a:spcAft>
              <a:defRPr sz="1600"/>
            </a:pPr>
            <a:r>
              <a:t>  2. 选择平台类型</a:t>
            </a:r>
          </a:p>
          <a:p>
            <a:pPr lvl="1">
              <a:spcAft>
                <a:spcPts val="800"/>
              </a:spcAft>
              <a:defRPr sz="1600"/>
            </a:pPr>
            <a:r>
              <a:t>  3. 填写 Webhook URL 并测试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使用建议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最佳实践分享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1. 合理配置 AI Agent 受众范围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2. 定期更新知识库内容</a:t>
            </a:r>
          </a:p>
          <a:p>
            <a:pPr lvl="1">
              <a:spcAft>
                <a:spcPts val="800"/>
              </a:spcAft>
              <a:defRPr sz="1600"/>
            </a:pPr>
            <a:r>
              <a:t>  每周回顾聊天记录，补充高频问题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3. 使用快捷回复提升效率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4. 善用标签分类管理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5. 定期查看报表优化服务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常见问题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Q1: AI 无法回答时怎么办？</a:t>
            </a:r>
          </a:p>
          <a:p>
            <a:pPr lvl="1">
              <a:spcAft>
                <a:spcPts val="800"/>
              </a:spcAft>
              <a:defRPr sz="1600"/>
            </a:pPr>
            <a:r>
              <a:t>  配置兜底回复 + 自动转接人工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Q2: 如何管理多个客服团队？</a:t>
            </a:r>
          </a:p>
          <a:p>
            <a:pPr lvl="1">
              <a:spcAft>
                <a:spcPts val="800"/>
              </a:spcAft>
              <a:defRPr sz="1600"/>
            </a:pPr>
            <a:r>
              <a:t>  使用自定义角色 + 精细化权限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Q3: 邮件会话如何保持线程？</a:t>
            </a:r>
          </a:p>
          <a:p>
            <a:pPr lvl="1">
              <a:spcAft>
                <a:spcPts val="800"/>
              </a:spcAft>
              <a:defRPr sz="1600"/>
            </a:pPr>
            <a:r>
              <a:t>  系统自动识别邮件头 Message-ID 字段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Q4: 坐席名额不够怎么办？</a:t>
            </a:r>
          </a:p>
          <a:p>
            <a:pPr lvl="1">
              <a:spcAft>
                <a:spcPts val="800"/>
              </a:spcAft>
              <a:defRPr sz="1600"/>
            </a:pPr>
            <a:r>
              <a:t>  联系管理员升级服务版本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总结与答疑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TWT Chat 核心优势回顾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四大核心价值</a:t>
            </a:r>
          </a:p>
          <a:p>
            <a:pPr lvl="1">
              <a:spcAft>
                <a:spcPts val="800"/>
              </a:spcAft>
              <a:defRPr sz="1600"/>
            </a:pPr>
            <a:r>
              <a:t>  1. 多渠道统一管理 - 提升协作效率</a:t>
            </a:r>
          </a:p>
          <a:p>
            <a:pPr lvl="1">
              <a:spcAft>
                <a:spcPts val="800"/>
              </a:spcAft>
              <a:defRPr sz="1600"/>
            </a:pPr>
            <a:r>
              <a:t>  2. AI 智能客服 - 减少重复工作</a:t>
            </a:r>
          </a:p>
          <a:p>
            <a:pPr lvl="1">
              <a:spcAft>
                <a:spcPts val="800"/>
              </a:spcAft>
              <a:defRPr sz="1600"/>
            </a:pPr>
            <a:r>
              <a:t>  3. 灵活权限体系 - 适配不同团队</a:t>
            </a:r>
          </a:p>
          <a:p>
            <a:pPr lvl="1">
              <a:spcAft>
                <a:spcPts val="800"/>
              </a:spcAft>
              <a:defRPr sz="1600"/>
            </a:pPr>
            <a:r>
              <a:t>  4. 完整数据分析 - 持续优化服务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演示环境：https://pm.pro.jishu666.com/web-agent/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开放问答环节 - 欢迎大家提问！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